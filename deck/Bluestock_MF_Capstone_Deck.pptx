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0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(₹ Lakh Cr)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2022-03</c:v>
                  </c:pt>
                  <c:pt idx="1">
                    <c:v>2022-09</c:v>
                  </c:pt>
                  <c:pt idx="2">
                    <c:v>2023-03</c:v>
                  </c:pt>
                  <c:pt idx="3">
                    <c:v>2023-09</c:v>
                  </c:pt>
                  <c:pt idx="4">
                    <c:v>2024-03</c:v>
                  </c:pt>
                  <c:pt idx="5">
                    <c:v>2024-09</c:v>
                  </c:pt>
                  <c:pt idx="6">
                    <c:v>2024-12</c:v>
                  </c:pt>
                  <c:pt idx="7">
                    <c:v>2025-03</c:v>
                  </c:pt>
                  <c:pt idx="8">
                    <c:v>2025-12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30.18</c:v>
                </c:pt>
                <c:pt idx="1">
                  <c:v>30.9</c:v>
                </c:pt>
                <c:pt idx="2">
                  <c:v>32.35</c:v>
                </c:pt>
                <c:pt idx="3">
                  <c:v>37.42</c:v>
                </c:pt>
                <c:pt idx="4">
                  <c:v>43.75</c:v>
                </c:pt>
                <c:pt idx="5">
                  <c:v>47.27</c:v>
                </c:pt>
                <c:pt idx="6">
                  <c:v>52.68</c:v>
                </c:pt>
                <c:pt idx="7">
                  <c:v>54.47</c:v>
                </c:pt>
                <c:pt idx="8">
                  <c:v>62.74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B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₹ Lakh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(₹ Lakh Cr)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E4C5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SBI Mutual Fund</c:v>
                  </c:pt>
                  <c:pt idx="1">
                    <c:v>ICICI Prudential MF</c:v>
                  </c:pt>
                  <c:pt idx="2">
                    <c:v>HDFC Mutual Fund</c:v>
                  </c:pt>
                  <c:pt idx="3">
                    <c:v>Nippon India MF</c:v>
                  </c:pt>
                  <c:pt idx="4">
                    <c:v>Kotak Mahindra MF</c:v>
                  </c:pt>
                  <c:pt idx="5">
                    <c:v>Aditya Birla Sun Life MF</c:v>
                  </c:pt>
                  <c:pt idx="6">
                    <c:v>UTI Mutual Fund</c:v>
                  </c:pt>
                  <c:pt idx="7">
                    <c:v>Axis Mutual Fund</c:v>
                  </c:pt>
                  <c:pt idx="8">
                    <c:v>Mirae Asset MF</c:v>
                  </c:pt>
                  <c:pt idx="9">
                    <c:v>DSP Mutual Fund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12.5</c:v>
                </c:pt>
                <c:pt idx="1">
                  <c:v>10.74</c:v>
                </c:pt>
                <c:pt idx="2">
                  <c:v>9.3</c:v>
                </c:pt>
                <c:pt idx="3">
                  <c:v>7</c:v>
                </c:pt>
                <c:pt idx="4">
                  <c:v>5.8</c:v>
                </c:pt>
                <c:pt idx="5">
                  <c:v>4.6</c:v>
                </c:pt>
                <c:pt idx="6">
                  <c:v>4.1</c:v>
                </c:pt>
                <c:pt idx="7">
                  <c:v>3.5</c:v>
                </c:pt>
                <c:pt idx="8">
                  <c:v>2.9</c:v>
                </c:pt>
                <c:pt idx="9">
                  <c:v>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E4C5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C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₹ Lakh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1295C"/>
                </a:solidFill>
                <a:latin typeface="Arial"/>
              </a:rPr>
              <a:t>Annual SIP Inflow (₹ Crore)</a:t>
            </a:r>
          </a:p>
        </c:rich>
      </c:tx>
      <c:layout/>
      <c:overlay val="0"/>
    </c:title>
    <c:autoTitleDeleted val="0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4C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1295C"/>
                </a:solidFill>
                <a:latin typeface="Arial"/>
              </a:rPr>
              <a:t>Category Net Inflows, Apr'24–Mar'25 (₹ 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Inflow (₹ Cr)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Liquid</c:v>
                  </c:pt>
                  <c:pt idx="1">
                    <c:v>Sectoral/Thematic</c:v>
                  </c:pt>
                  <c:pt idx="2">
                    <c:v>Flexi Cap</c:v>
                  </c:pt>
                  <c:pt idx="3">
                    <c:v>Large &amp; Mid Cap</c:v>
                  </c:pt>
                  <c:pt idx="4">
                    <c:v>Short Duration</c:v>
                  </c:pt>
                  <c:pt idx="5">
                    <c:v>Mid Cap</c:v>
                  </c:pt>
                  <c:pt idx="6">
                    <c:v>Small Cap</c:v>
                  </c:pt>
                  <c:pt idx="7">
                    <c:v>Hybrid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451275</c:v>
                </c:pt>
                <c:pt idx="1">
                  <c:v>103829</c:v>
                </c:pt>
                <c:pt idx="2">
                  <c:v>63989</c:v>
                </c:pt>
                <c:pt idx="3">
                  <c:v>57752</c:v>
                </c:pt>
                <c:pt idx="4">
                  <c:v>55530</c:v>
                </c:pt>
                <c:pt idx="5">
                  <c:v>55312</c:v>
                </c:pt>
                <c:pt idx="6">
                  <c:v>46596</c:v>
                </c:pt>
                <c:pt idx="7">
                  <c:v>38868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4C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1295C"/>
                </a:solidFill>
                <a:latin typeface="Arial"/>
              </a:rPr>
              <a:t>Transaction Value by Age Group (₹ Cr)</a:t>
            </a:r>
          </a:p>
        </c:rich>
      </c:tx>
      <c:layout/>
      <c:overlay val="0"/>
    </c:title>
    <c:autoTitleDeleted val="0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C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1295C"/>
                </a:solidFill>
                <a:latin typeface="Arial"/>
              </a:rPr>
              <a:t>By City Tier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City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Tier-30 (Metro)</c:v>
                </c:pt>
                <c:pt idx="1">
                  <c:v>Beyond-30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66.3</c:v>
                </c:pt>
                <c:pt idx="1">
                  <c:v>33.7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1295C"/>
                </a:solidFill>
                <a:latin typeface="Arial"/>
              </a:rPr>
              <a:t>By Gender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66.5</c:v>
                </c:pt>
                <c:pt idx="1">
                  <c:v>33.5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Value (₹ Cr)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Banking</c:v>
                  </c:pt>
                  <c:pt idx="1">
                    <c:v>IT</c:v>
                  </c:pt>
                  <c:pt idx="2">
                    <c:v>Pharma</c:v>
                  </c:pt>
                  <c:pt idx="3">
                    <c:v>Automobile</c:v>
                  </c:pt>
                  <c:pt idx="4">
                    <c:v>Utilities</c:v>
                  </c:pt>
                  <c:pt idx="5">
                    <c:v>Infrastructure</c:v>
                  </c:pt>
                  <c:pt idx="6">
                    <c:v>FMCG</c:v>
                  </c:pt>
                  <c:pt idx="7">
                    <c:v>Telecom</c:v>
                  </c:pt>
                  <c:pt idx="8">
                    <c:v>Energy</c:v>
                  </c:pt>
                  <c:pt idx="9">
                    <c:v>Diversified</c:v>
                  </c:pt>
                  <c:pt idx="10">
                    <c:v>Cement</c:v>
                  </c:pt>
                  <c:pt idx="11">
                    <c:v>Paints</c:v>
                  </c:pt>
                  <c:pt idx="12">
                    <c:v>Consumer Goods</c:v>
                  </c:pt>
                  <c:pt idx="13">
                    <c:v>NBFC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62840</c:v>
                </c:pt>
                <c:pt idx="1">
                  <c:v>38477</c:v>
                </c:pt>
                <c:pt idx="2">
                  <c:v>34606</c:v>
                </c:pt>
                <c:pt idx="3">
                  <c:v>34297</c:v>
                </c:pt>
                <c:pt idx="4">
                  <c:v>25109</c:v>
                </c:pt>
                <c:pt idx="5">
                  <c:v>22433</c:v>
                </c:pt>
                <c:pt idx="6">
                  <c:v>21151</c:v>
                </c:pt>
                <c:pt idx="7">
                  <c:v>16051</c:v>
                </c:pt>
                <c:pt idx="8">
                  <c:v>15287</c:v>
                </c:pt>
                <c:pt idx="9">
                  <c:v>13898</c:v>
                </c:pt>
                <c:pt idx="10">
                  <c:v>11612</c:v>
                </c:pt>
                <c:pt idx="11">
                  <c:v>10612</c:v>
                </c:pt>
                <c:pt idx="12">
                  <c:v>9860</c:v>
                </c:pt>
                <c:pt idx="13">
                  <c:v>8615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E4C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Equity Funds</c:v>
                </c:pt>
              </c:strCache>
            </c:strRef>
          </c:tx>
          <c:spPr>
            <a:solidFill>
              <a:srgbClr val="065A82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xVal>
            <c:numRef>
              <c:f>Sheet1!$A$2:$A$41</c:f>
              <c:numCache>
                <c:formatCode>General</c:formatCode>
                <c:ptCount val="40"/>
                <c:pt idx="0">
                  <c:v>0.22</c:v>
                </c:pt>
                <c:pt idx="1">
                  <c:v>0.26</c:v>
                </c:pt>
                <c:pt idx="2">
                  <c:v>0.37</c:v>
                </c:pt>
                <c:pt idx="3">
                  <c:v>0.43</c:v>
                </c:pt>
                <c:pt idx="4">
                  <c:v>0.44</c:v>
                </c:pt>
                <c:pt idx="5">
                  <c:v>0.47</c:v>
                </c:pt>
                <c:pt idx="6">
                  <c:v>0.87</c:v>
                </c:pt>
                <c:pt idx="7">
                  <c:v>0.87</c:v>
                </c:pt>
                <c:pt idx="8">
                  <c:v>0.88</c:v>
                </c:pt>
                <c:pt idx="9">
                  <c:v>0.89</c:v>
                </c:pt>
                <c:pt idx="10">
                  <c:v>0.89</c:v>
                </c:pt>
                <c:pt idx="11">
                  <c:v>0.9</c:v>
                </c:pt>
                <c:pt idx="12">
                  <c:v>0.91</c:v>
                </c:pt>
                <c:pt idx="13">
                  <c:v>0.91</c:v>
                </c:pt>
                <c:pt idx="14">
                  <c:v>0.91</c:v>
                </c:pt>
                <c:pt idx="15">
                  <c:v>0.92</c:v>
                </c:pt>
                <c:pt idx="16">
                  <c:v>0.92</c:v>
                </c:pt>
                <c:pt idx="17">
                  <c:v>0.93</c:v>
                </c:pt>
                <c:pt idx="18">
                  <c:v>0.95</c:v>
                </c:pt>
                <c:pt idx="19">
                  <c:v>0.96</c:v>
                </c:pt>
                <c:pt idx="20">
                  <c:v>0.96</c:v>
                </c:pt>
                <c:pt idx="21">
                  <c:v>0.97</c:v>
                </c:pt>
                <c:pt idx="22">
                  <c:v>0.97</c:v>
                </c:pt>
                <c:pt idx="23">
                  <c:v>0.97</c:v>
                </c:pt>
                <c:pt idx="24">
                  <c:v>0.98</c:v>
                </c:pt>
                <c:pt idx="25">
                  <c:v>0.98</c:v>
                </c:pt>
                <c:pt idx="26">
                  <c:v>0.98</c:v>
                </c:pt>
                <c:pt idx="27">
                  <c:v>0.99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1.02</c:v>
                </c:pt>
                <c:pt idx="34">
                  <c:v>1.03</c:v>
                </c:pt>
                <c:pt idx="35">
                  <c:v>1.03</c:v>
                </c:pt>
                <c:pt idx="36">
                  <c:v>1.03</c:v>
                </c:pt>
                <c:pt idx="37">
                  <c:v>1.04</c:v>
                </c:pt>
                <c:pt idx="38">
                  <c:v>1.04</c:v>
                </c:pt>
                <c:pt idx="39">
                  <c:v>1.04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1.43</c:v>
                </c:pt>
                <c:pt idx="7">
                  <c:v>1.78</c:v>
                </c:pt>
                <c:pt idx="8">
                  <c:v>0.86</c:v>
                </c:pt>
                <c:pt idx="9">
                  <c:v>1.23</c:v>
                </c:pt>
                <c:pt idx="10">
                  <c:v>0.87</c:v>
                </c:pt>
                <c:pt idx="11">
                  <c:v>0.93</c:v>
                </c:pt>
                <c:pt idx="12">
                  <c:v>1.41</c:v>
                </c:pt>
                <c:pt idx="13">
                  <c:v>0.95</c:v>
                </c:pt>
                <c:pt idx="14">
                  <c:v>1.82</c:v>
                </c:pt>
                <c:pt idx="15">
                  <c:v>0.55</c:v>
                </c:pt>
                <c:pt idx="16">
                  <c:v>1.12</c:v>
                </c:pt>
                <c:pt idx="17">
                  <c:v>1.27</c:v>
                </c:pt>
                <c:pt idx="18">
                  <c:v>1.85</c:v>
                </c:pt>
                <c:pt idx="19">
                  <c:v>0.66</c:v>
                </c:pt>
                <c:pt idx="20">
                  <c:v>1.62</c:v>
                </c:pt>
                <c:pt idx="21">
                  <c:v>1.13</c:v>
                </c:pt>
                <c:pt idx="22">
                  <c:v>1.84</c:v>
                </c:pt>
                <c:pt idx="23">
                  <c:v>0.78</c:v>
                </c:pt>
                <c:pt idx="24">
                  <c:v>0.54</c:v>
                </c:pt>
                <c:pt idx="25">
                  <c:v>1.02</c:v>
                </c:pt>
                <c:pt idx="26">
                  <c:v>0.69</c:v>
                </c:pt>
                <c:pt idx="27">
                  <c:v>1.7</c:v>
                </c:pt>
                <c:pt idx="28">
                  <c:v>1.91</c:v>
                </c:pt>
                <c:pt idx="29">
                  <c:v>1.42</c:v>
                </c:pt>
                <c:pt idx="30">
                  <c:v>0.51</c:v>
                </c:pt>
                <c:pt idx="31">
                  <c:v>0.89</c:v>
                </c:pt>
                <c:pt idx="32">
                  <c:v>1.79</c:v>
                </c:pt>
                <c:pt idx="33">
                  <c:v>1.7</c:v>
                </c:pt>
                <c:pt idx="34">
                  <c:v>0.8</c:v>
                </c:pt>
                <c:pt idx="35">
                  <c:v>0.88</c:v>
                </c:pt>
                <c:pt idx="36">
                  <c:v>1.34</c:v>
                </c:pt>
                <c:pt idx="37">
                  <c:v>1.8</c:v>
                </c:pt>
                <c:pt idx="38">
                  <c:v>1.13</c:v>
                </c:pt>
                <c:pt idx="39">
                  <c:v>0.9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Debt / Liquid Funds</c:v>
                </c:pt>
              </c:strCache>
            </c:strRef>
          </c:tx>
          <c:spPr>
            <a:solidFill>
              <a:srgbClr val="E8A33D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xVal>
            <c:numRef>
              <c:f>Sheet1!$A$2:$A$41</c:f>
              <c:numCache>
                <c:formatCode>General</c:formatCode>
                <c:ptCount val="40"/>
                <c:pt idx="0">
                  <c:v>0.22</c:v>
                </c:pt>
                <c:pt idx="1">
                  <c:v>0.26</c:v>
                </c:pt>
                <c:pt idx="2">
                  <c:v>0.37</c:v>
                </c:pt>
                <c:pt idx="3">
                  <c:v>0.43</c:v>
                </c:pt>
                <c:pt idx="4">
                  <c:v>0.44</c:v>
                </c:pt>
                <c:pt idx="5">
                  <c:v>0.47</c:v>
                </c:pt>
                <c:pt idx="6">
                  <c:v>0.87</c:v>
                </c:pt>
                <c:pt idx="7">
                  <c:v>0.87</c:v>
                </c:pt>
                <c:pt idx="8">
                  <c:v>0.88</c:v>
                </c:pt>
                <c:pt idx="9">
                  <c:v>0.89</c:v>
                </c:pt>
                <c:pt idx="10">
                  <c:v>0.89</c:v>
                </c:pt>
                <c:pt idx="11">
                  <c:v>0.9</c:v>
                </c:pt>
                <c:pt idx="12">
                  <c:v>0.91</c:v>
                </c:pt>
                <c:pt idx="13">
                  <c:v>0.91</c:v>
                </c:pt>
                <c:pt idx="14">
                  <c:v>0.91</c:v>
                </c:pt>
                <c:pt idx="15">
                  <c:v>0.92</c:v>
                </c:pt>
                <c:pt idx="16">
                  <c:v>0.92</c:v>
                </c:pt>
                <c:pt idx="17">
                  <c:v>0.93</c:v>
                </c:pt>
                <c:pt idx="18">
                  <c:v>0.95</c:v>
                </c:pt>
                <c:pt idx="19">
                  <c:v>0.96</c:v>
                </c:pt>
                <c:pt idx="20">
                  <c:v>0.96</c:v>
                </c:pt>
                <c:pt idx="21">
                  <c:v>0.97</c:v>
                </c:pt>
                <c:pt idx="22">
                  <c:v>0.97</c:v>
                </c:pt>
                <c:pt idx="23">
                  <c:v>0.97</c:v>
                </c:pt>
                <c:pt idx="24">
                  <c:v>0.98</c:v>
                </c:pt>
                <c:pt idx="25">
                  <c:v>0.98</c:v>
                </c:pt>
                <c:pt idx="26">
                  <c:v>0.98</c:v>
                </c:pt>
                <c:pt idx="27">
                  <c:v>0.99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1.02</c:v>
                </c:pt>
                <c:pt idx="34">
                  <c:v>1.03</c:v>
                </c:pt>
                <c:pt idx="35">
                  <c:v>1.03</c:v>
                </c:pt>
                <c:pt idx="36">
                  <c:v>1.03</c:v>
                </c:pt>
                <c:pt idx="37">
                  <c:v>1.04</c:v>
                </c:pt>
                <c:pt idx="38">
                  <c:v>1.04</c:v>
                </c:pt>
                <c:pt idx="39">
                  <c:v>1.04</c:v>
                </c:pt>
              </c:numCache>
            </c:numRef>
          </c:xVal>
          <c:yVal>
            <c:numRef>
              <c:f>Sheet1!$C$2:$C$41</c:f>
              <c:numCache>
                <c:formatCode>General</c:formatCode>
                <c:ptCount val="40"/>
                <c:pt idx="0">
                  <c:v>1.6</c:v>
                </c:pt>
                <c:pt idx="1">
                  <c:v>1.85</c:v>
                </c:pt>
                <c:pt idx="2">
                  <c:v>0.89</c:v>
                </c:pt>
                <c:pt idx="3">
                  <c:v>1.18</c:v>
                </c:pt>
                <c:pt idx="4">
                  <c:v>1.98</c:v>
                </c:pt>
                <c:pt idx="5">
                  <c:v>1.52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Beta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B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Alpha (%)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1295C"/>
                </a:solidFill>
                <a:latin typeface="Arial"/>
              </a:rPr>
              <a:t>Highest vs. Lowest Tail Risk (95% CVaR, Daily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95% CVaR (Daily, 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ABSL Small Cap Fund</c:v>
                  </c:pt>
                  <c:pt idx="1">
                    <c:v>SBI Small Cap Fund</c:v>
                  </c:pt>
                  <c:pt idx="2">
                    <c:v>Nippon India Small Cap Fund</c:v>
                  </c:pt>
                  <c:pt idx="3">
                    <c:v>Axis Small Cap Fund</c:v>
                  </c:pt>
                  <c:pt idx="4">
                    <c:v>DSP Small Cap Fund</c:v>
                  </c:pt>
                  <c:pt idx="5">
                    <c:v>ICICI Pru Liquid Fund</c:v>
                  </c:pt>
                  <c:pt idx="6">
                    <c:v>Kotak Liquid Fund</c:v>
                  </c:pt>
                  <c:pt idx="7">
                    <c:v>ABSL Liquid Fund</c:v>
                  </c:pt>
                  <c:pt idx="8">
                    <c:v>Nippon India Gilt Securities Fund</c:v>
                  </c:pt>
                  <c:pt idx="9">
                    <c:v>HDFC Short Term Debt Fund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-3.028853855689586</c:v>
                </c:pt>
                <c:pt idx="1">
                  <c:v>-3.0162858545493423</c:v>
                </c:pt>
                <c:pt idx="2">
                  <c:v>-2.993961894901776</c:v>
                </c:pt>
                <c:pt idx="3">
                  <c:v>-2.96900397274172</c:v>
                </c:pt>
                <c:pt idx="4">
                  <c:v>-2.857253167644592</c:v>
                </c:pt>
                <c:pt idx="5">
                  <c:v>-0.0325352625620393</c:v>
                </c:pt>
                <c:pt idx="6">
                  <c:v>-0.0362089128534187</c:v>
                </c:pt>
                <c:pt idx="7">
                  <c:v>-0.0370888261084241</c:v>
                </c:pt>
                <c:pt idx="8">
                  <c:v>-0.4540687118852714</c:v>
                </c:pt>
                <c:pt idx="9">
                  <c:v>-0.4580656507363613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E4C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Bluestock Fintech Pvt. Ltd.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607040" y="822960"/>
            <a:ext cx="1005840" cy="100584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5120640"/>
            <a:ext cx="548640" cy="548640"/>
          </a:xfrm>
          <a:prstGeom prst="ellipse">
            <a:avLst/>
          </a:prstGeom>
          <a:solidFill>
            <a:srgbClr val="E8A33D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806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Tejaswini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  |  Supervisor: Himanshu Payal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647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&amp;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schemes, 64K+ NAV records, 32K+ investor transactions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7647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2628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Growth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&amp; SIP trends across 2022–2025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7647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7532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Behaviour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city tiers, SIP retention cohorts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5021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4023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Risk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343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Alpha/Beta, Sharpe, VaR/CVaR, sector concentration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3375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6280" y="35021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26280" y="4023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4343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ranking across all 40 schemes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33375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75320" y="35021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75320" y="4023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75320" y="4343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 for Bluestock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1907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3134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160020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2450592" y="171907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50592" y="23134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Houses (AMCs)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52544" y="160020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4352544" y="171907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64,320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52544" y="23134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Data Points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54496" y="160020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254496" y="171907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32,778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54496" y="23134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56448" y="160020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8156448" y="171907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56448" y="23134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Investors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0" y="160020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171907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0" y="23134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Used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73152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</a:rPr>
                        <a:t>Fund Master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E4C59"/>
                          </a:solidFill>
                        </a:rPr>
                        <a:t>Scheme metadata, expense ratio, risk grade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</a:rPr>
                        <a:t>NAV History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E4C59"/>
                          </a:solidFill>
                        </a:rPr>
                        <a:t>Daily NAV, Jan 2022 – May 2026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</a:rPr>
                        <a:t>AUM by Fund House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E4C59"/>
                          </a:solidFill>
                        </a:rPr>
                        <a:t>Quarterly AUM snapshots per AMC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</a:rPr>
                        <a:t>Scheme Performance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E4C59"/>
                          </a:solidFill>
                        </a:rPr>
                        <a:t>Returns, Alpha, Beta, Sharpe, Sortino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</a:rPr>
                        <a:t>Investor Transactions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E4C59"/>
                          </a:solidFill>
                        </a:rPr>
                        <a:t>5,000 investors, SIP/Lumpsum/Redemption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</a:rPr>
                        <a:t>Portfolio Holdings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E4C59"/>
                          </a:solidFill>
                        </a:rPr>
                        <a:t>Stock-level sector exposure, Dec 2025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8275320" y="30632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503920" y="3246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503920" y="35661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 live NAV data, SEBI category &amp; expense-ratio references, synthetic investor/holdings data modeled on real industry distributions.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503920" y="4663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503920" y="49834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NumPy, SciPy) → SQLite star schema → Power BI dashboard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GROWTH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AUM Grew 2.1× in Under 4 Years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5087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16276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₹62.74L Cr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321040" y="2148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AUM, Dec 2025 (up from ₹30.18L Cr in Mar 2022)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138160" y="28803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321040" y="29992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~21.5%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321040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growth rate, Mar 2022 – Dec 2025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138160" y="42519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21040" y="4370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21040" y="46634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dashboard bug where AUM was summed across quarterly snapshots instead of using year-end values — this chart shows the corrected trend.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SBI Leads a Moderately Concentrated Market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886200" cy="173736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600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001000" y="21031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Fund's AUM share — largest single AMC, followed by ICICI Prudential (17.1%) and HDFC (14.8%)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0" y="338328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01000" y="3520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HHI = 1,282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001000" y="3977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concentrated market — top 3 AMCs hold ~52%, remaining 7 compete for the rest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0" y="480060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01000" y="4937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01000" y="523036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AMC dominates — a genuinely competitive, diversified industry structure.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PARTICIPATION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 Inflows Nearly Tripled Since 2022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2120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035040" y="1508760"/>
          <a:ext cx="5577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5262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77240" y="4663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 pulled ₹4.51L Cr in net inflows — the highest of any category, as investors park surplus cash short-term while rotating into Sectoral/Thematic bets (₹1.04L Cr, #2).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BEHAVIOUR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Investing?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508760"/>
          <a:ext cx="26060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9006840" y="1508760"/>
          <a:ext cx="26060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6263640" y="39319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21295C"/>
          </a:solidFill>
          <a:ln/>
        </p:spPr>
      </p:sp>
      <p:sp>
        <p:nvSpPr>
          <p:cNvPr id="8" name="Text 3"/>
          <p:cNvSpPr/>
          <p:nvPr/>
        </p:nvSpPr>
        <p:spPr>
          <a:xfrm>
            <a:off x="6492240" y="4069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6492240" y="45537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investors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503920" y="4069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8503920" y="45537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verified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492240" y="50292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group contributes ₹145.2 Cr — the single largest slice, consistent with peak early-career wealth accumulation.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Exposure Is Diversified, Not Concentrated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040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600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HHI = 994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046720" y="2121408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1,000 threshold — an unconcentrated, well-diversified sector mix across all 40 schemes' holdings.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818120" y="324612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0" y="33649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19.3%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046720" y="382219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Banking's share of total holdings — the single largest sector, followed by IT (11.8%) and Pharma (10.7%)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18120" y="470916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46720" y="4846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Point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46720" y="513892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rebalancing if Banking's share crosses ~25% — no action needed today.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Risk-Adjusted Performance: Alpha vs. Beta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589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508760"/>
            <a:ext cx="3291840" cy="1691640"/>
          </a:xfrm>
          <a:prstGeom prst="roundRect">
            <a:avLst>
              <a:gd name="adj" fmla="val 4324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8595360" y="1645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14.09%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595360" y="212140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3-year annualized return across all 40 schemes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366760" y="33375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95360" y="34564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+1.25%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595360" y="391363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Alpha over benchmark — modest, consistent outperformance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366760" y="475488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95360" y="48920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&amp; Liquid funds cluster at low Beta (~0.2–0.5) — behaving as expected for their mandates, while Equity funds spread near Beta = 1.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RANKING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Funds — Composite Scorecard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7724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097280"/>
                <a:gridCol w="914400"/>
                <a:gridCol w="91440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Scheme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3Y Return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 /100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ICICI Pru Liquid Fund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Liquid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7.68%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7.68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1.85%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100.0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Kotak Liquid Fund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Liquid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6.18%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6.18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1.52%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83.6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ABSL Liquid Fund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Liquid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5.14%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5.14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1.18%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70.0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HDFC Short Term Debt Fund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Short Duration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7.37%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1.84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1.98%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47.4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SBI Magnum Gilt Fund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Gilt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6.07%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1.52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1.60%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39.4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UTI Flexi Cap Fund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Flexi Cap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15.34%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0.96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1.79%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31.6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Kotak Flexicap Fund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Flexi Cap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15.65%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0.98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1.85%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28.1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Nippon India Gilt Securities Fund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Gilt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5.31%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0.89%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28.0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Mirae Asset Large Cap Fund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Large Cap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14.81%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1.06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1.62%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28.0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Kotak Emerging Equity Fund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Mid Cap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18.23%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0.96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</a:rPr>
                        <a:t>1.91%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26.9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508760"/>
            <a:ext cx="3063240" cy="2286000"/>
          </a:xfrm>
          <a:prstGeom prst="roundRect">
            <a:avLst>
              <a:gd name="adj" fmla="val 3200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8823960" y="1645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823960" y="196596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blend of 3Y return, Sharpe, Sortino, Alpha, volatility (inverted), and max drawdown (inverted), rescaled 0–100.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595360" y="3931920"/>
            <a:ext cx="3063240" cy="2011680"/>
          </a:xfrm>
          <a:prstGeom prst="roundRect">
            <a:avLst>
              <a:gd name="adj" fmla="val 3636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823960" y="4069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Table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823960" y="4370832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&amp; short-duration debt funds top the list for risk-adjusted consistency — not because they have the highest raw returns. For growth-seeking investors, filter by category instead of comparing across the full universe.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 Risk Varies 90× Across Fund Categories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040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600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0.46% – 21.8%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0" y="21031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annualized volatility across schemes — Liquid funds lowest, Small Cap highest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818120" y="306324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0" y="3200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Retention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0" y="35204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retention drops from 100% (month 0) to ~16% (month 1), then stabilizes near 13–17% through month 5.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18120" y="470916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46720" y="4846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46720" y="513892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Small/Mid Cap schemes beyond -2.5% CVaR for enhanced risk disclosure to conservative investors.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Bluestock Should Do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within-category fund rankings (not the cross-category scorecard) for equity fund recommendations.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688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enhanced risk disclosures for Small/Mid Cap funds with CVaR beyond -2.5%.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2461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SIP retention campaigns at month 2, using a rolling activity window instead of strict calendar matching.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0233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sector HHI — re-check rebalancing only if Banking's share exceeds ~25%.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46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800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the corrected AUM aggregation logic (latest snapshot, not summed) across all Power BI reports.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github.com/Tejaswini-0625/bluestock_mf_capstone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</dc:title>
  <dc:subject>PptxGenJS Presentation</dc:subject>
  <dc:creator>Tejaswini</dc:creator>
  <cp:lastModifiedBy>Tejaswini</cp:lastModifiedBy>
  <cp:revision>1</cp:revision>
  <dcterms:created xsi:type="dcterms:W3CDTF">2026-07-07T08:36:06Z</dcterms:created>
  <dcterms:modified xsi:type="dcterms:W3CDTF">2026-07-07T08:36:06Z</dcterms:modified>
</cp:coreProperties>
</file>