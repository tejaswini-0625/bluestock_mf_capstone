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Return vs. Risk (illustrative — replace with real data)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Sample Funds</c:v>
                </c:pt>
              </c:strCache>
            </c:strRef>
          </c:tx>
          <c:spPr>
            <a:solidFill>
              <a:srgbClr val="C9A227"/>
            </a:solidFill>
            <a:ln w="25400" cap="flat">
              <a:solidFill>
                <a:srgbClr val="C9A22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9A227"/>
              </a:solidFill>
              <a:ln w="9525" cap="flat">
                <a:solidFill>
                  <a:srgbClr val="C9A227"/>
                </a:solidFill>
                <a:prstDash val="solid"/>
                <a:round/>
              </a:ln>
              <a:effectLst/>
            </c:spPr>
          </c:marker>
          <c:xVal>
            <c:numRef>
              <c:f>Sheet1!$A$2:$A$7</c:f>
              <c:numCache>
                <c:formatCode>General</c:formatCode>
                <c:ptCount val="6"/>
                <c:pt idx="0">
                  <c:v>10</c:v>
                </c:pt>
                <c:pt idx="1">
                  <c:v>14</c:v>
                </c:pt>
                <c:pt idx="2">
                  <c:v>18</c:v>
                </c:pt>
                <c:pt idx="3">
                  <c:v>22</c:v>
                </c:pt>
                <c:pt idx="4">
                  <c:v>26</c:v>
                </c:pt>
                <c:pt idx="5">
                  <c:v>30</c:v>
                </c:pt>
              </c:numCache>
            </c:numRef>
          </c:xVal>
          <c:yVal>
            <c:numRef>
              <c:f>Sheet1!$B$2:$B$7</c:f>
              <c:numCache>
                <c:formatCode>General</c:formatCode>
                <c:ptCount val="6"/>
                <c:pt idx="0">
                  <c:v>8</c:v>
                </c:pt>
                <c:pt idx="1">
                  <c:v>11</c:v>
                </c:pt>
                <c:pt idx="2">
                  <c:v>13</c:v>
                </c:pt>
                <c:pt idx="3">
                  <c:v>15</c:v>
                </c:pt>
                <c:pt idx="4">
                  <c:v>14</c:v>
                </c:pt>
                <c:pt idx="5">
                  <c:v>17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645920"/>
            <a:ext cx="5029200" cy="5029200"/>
          </a:xfrm>
          <a:prstGeom prst="ellipse">
            <a:avLst/>
          </a:prstGeom>
          <a:solidFill>
            <a:srgbClr val="24365E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389120"/>
            <a:ext cx="4114800" cy="4114800"/>
          </a:xfrm>
          <a:prstGeom prst="ellipse">
            <a:avLst/>
          </a:prstGeom>
          <a:solidFill>
            <a:srgbClr val="24365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103693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1031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256032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Mutual Fund Analytics Platform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35204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— Final Presentation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822960" y="4114800"/>
            <a:ext cx="20116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48056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Tejaswini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Himanshu Payal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[Submission Date]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389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6858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Objective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— Mutual Fund Analytics Capstone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448495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02920" y="14173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2920" y="1874520"/>
            <a:ext cx="5212080" cy="822960"/>
          </a:xfrm>
          <a:prstGeom prst="roundRect">
            <a:avLst>
              <a:gd name="adj" fmla="val 8889"/>
            </a:avLst>
          </a:prstGeom>
          <a:solidFill>
            <a:srgbClr val="E8EEF7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18745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NAV, AUM &amp; SIP data across formats (TXT, PDF, HTML)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2834640"/>
            <a:ext cx="5212080" cy="822960"/>
          </a:xfrm>
          <a:prstGeom prst="roundRect">
            <a:avLst>
              <a:gd name="adj" fmla="val 8889"/>
            </a:avLst>
          </a:prstGeom>
          <a:solidFill>
            <a:srgbClr val="E8EEF7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283464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easy way to compare funds on a risk-adjusted basis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02920" y="3794760"/>
            <a:ext cx="5212080" cy="822960"/>
          </a:xfrm>
          <a:prstGeom prst="roundRect">
            <a:avLst>
              <a:gd name="adj" fmla="val 8889"/>
            </a:avLst>
          </a:prstGeom>
          <a:solidFill>
            <a:srgbClr val="E8EEF7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379476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visibility into performance vs. benchmark indices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02920" y="4754880"/>
            <a:ext cx="5212080" cy="822960"/>
          </a:xfrm>
          <a:prstGeom prst="roundRect">
            <a:avLst>
              <a:gd name="adj" fmla="val 8889"/>
            </a:avLst>
          </a:prstGeom>
          <a:solidFill>
            <a:srgbClr val="E8EEF7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475488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spot on investor demographic &amp; behavioural patterns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12648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Objective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126480" y="1874520"/>
            <a:ext cx="5532120" cy="4114800"/>
          </a:xfrm>
          <a:prstGeom prst="roundRect">
            <a:avLst>
              <a:gd name="adj" fmla="val 1778"/>
            </a:avLst>
          </a:prstGeom>
          <a:solidFill>
            <a:srgbClr val="1B2A4A"/>
          </a:solidFill>
          <a:ln/>
        </p:spPr>
      </p:sp>
      <p:sp>
        <p:nvSpPr>
          <p:cNvPr id="19" name="Text 16"/>
          <p:cNvSpPr/>
          <p:nvPr/>
        </p:nvSpPr>
        <p:spPr>
          <a:xfrm>
            <a:off x="6446520" y="214884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full-stack Mutual Fund Analytics Platform that ingests public AMFI data, transforms it via ETL, stores it in a relational database, and delivers insights through an interactive dashboard.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446520" y="3429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6446520" y="3977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052560" y="3429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9052560" y="3977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446520" y="46177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87K+</a:t>
            </a:r>
            <a:endParaRPr lang="en-US" sz="2600" dirty="0"/>
          </a:p>
        </p:txBody>
      </p:sp>
      <p:sp>
        <p:nvSpPr>
          <p:cNvPr id="25" name="Text 22"/>
          <p:cNvSpPr/>
          <p:nvPr/>
        </p:nvSpPr>
        <p:spPr>
          <a:xfrm>
            <a:off x="6446520" y="5166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9052560" y="46177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 Yrs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9052560" y="5166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History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389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6858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— Mutual Fund Analytics Capstone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448495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11155680" cy="3291840"/>
        </p:xfrm>
        <a:graphic>
          <a:graphicData uri="http://schemas.openxmlformats.org/drawingml/2006/table">
            <a:tbl>
              <a:tblPr/>
              <a:tblGrid>
                <a:gridCol w="3840480"/>
                <a:gridCol w="1828800"/>
                <a:gridCol w="54864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01_fund_master.csv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Scheme master: AMC, category, expense ratio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02_nav_history.csv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~46,000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NAV, Jan 2022 – May 2026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07_scheme_performance.csv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Returns, Sharpe, Sortino, Alpha, Beta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08_investor_transactions.csv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~32,000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SIP / Lumpsum / Redemption records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10_benchmark_indices.csv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Nifty 50 / 100, BSE SmallCap daily closes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02920" y="5029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source: AMFI India, mfapi.in, NSE/BSE public data — 10 datasets in total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389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6858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— Mutual Fund Analytics Capstone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448495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02920" y="2103120"/>
            <a:ext cx="2057400" cy="2103120"/>
          </a:xfrm>
          <a:prstGeom prst="roundRect">
            <a:avLst>
              <a:gd name="adj" fmla="val 3556"/>
            </a:avLst>
          </a:prstGeom>
          <a:solidFill>
            <a:srgbClr val="1B2A4A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22402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94360" y="2651760"/>
            <a:ext cx="18745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AMFI TXT, mfapi.in API, NSE/BSE, provided CSVs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542032" y="2990088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227"/>
                </a:solidFill>
              </a:rPr>
              <a:t>▶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697480" y="2103120"/>
            <a:ext cx="2057400" cy="2103120"/>
          </a:xfrm>
          <a:prstGeom prst="roundRect">
            <a:avLst>
              <a:gd name="adj" fmla="val 3556"/>
            </a:avLst>
          </a:prstGeom>
          <a:solidFill>
            <a:srgbClr val="2E4272"/>
          </a:solidFill>
          <a:ln/>
        </p:spPr>
      </p:sp>
      <p:sp>
        <p:nvSpPr>
          <p:cNvPr id="13" name="Text 10"/>
          <p:cNvSpPr/>
          <p:nvPr/>
        </p:nvSpPr>
        <p:spPr>
          <a:xfrm>
            <a:off x="2788920" y="22402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2788920" y="2651760"/>
            <a:ext cx="18745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Python/Pandas cleaning, forward-fill, derived fields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736592" y="2990088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227"/>
                </a:solidFill>
              </a:rPr>
              <a:t>▶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892040" y="2103120"/>
            <a:ext cx="2057400" cy="2103120"/>
          </a:xfrm>
          <a:prstGeom prst="roundRect">
            <a:avLst>
              <a:gd name="adj" fmla="val 3556"/>
            </a:avLst>
          </a:prstGeom>
          <a:solidFill>
            <a:srgbClr val="1B2A4A"/>
          </a:solidFill>
          <a:ln/>
        </p:spPr>
      </p:sp>
      <p:sp>
        <p:nvSpPr>
          <p:cNvPr id="17" name="Text 14"/>
          <p:cNvSpPr/>
          <p:nvPr/>
        </p:nvSpPr>
        <p:spPr>
          <a:xfrm>
            <a:off x="4983480" y="22402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983480" y="2651760"/>
            <a:ext cx="18745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— 5+ table star schema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931152" y="2990088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227"/>
                </a:solidFill>
              </a:rPr>
              <a:t>▶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086600" y="2103120"/>
            <a:ext cx="2057400" cy="2103120"/>
          </a:xfrm>
          <a:prstGeom prst="roundRect">
            <a:avLst>
              <a:gd name="adj" fmla="val 3556"/>
            </a:avLst>
          </a:prstGeom>
          <a:solidFill>
            <a:srgbClr val="2E4272"/>
          </a:solidFill>
          <a:ln/>
        </p:spPr>
      </p:sp>
      <p:sp>
        <p:nvSpPr>
          <p:cNvPr id="21" name="Text 18"/>
          <p:cNvSpPr/>
          <p:nvPr/>
        </p:nvSpPr>
        <p:spPr>
          <a:xfrm>
            <a:off x="7178040" y="22402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7178040" y="2651760"/>
            <a:ext cx="18745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EDA, risk metrics, benchmark comparison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9125712" y="2990088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227"/>
                </a:solidFill>
              </a:rPr>
              <a:t>▶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9281160" y="2103120"/>
            <a:ext cx="2057400" cy="2103120"/>
          </a:xfrm>
          <a:prstGeom prst="roundRect">
            <a:avLst>
              <a:gd name="adj" fmla="val 3556"/>
            </a:avLst>
          </a:prstGeom>
          <a:solidFill>
            <a:srgbClr val="1B2A4A"/>
          </a:solidFill>
          <a:ln/>
        </p:spPr>
      </p:sp>
      <p:sp>
        <p:nvSpPr>
          <p:cNvPr id="25" name="Text 22"/>
          <p:cNvSpPr/>
          <p:nvPr/>
        </p:nvSpPr>
        <p:spPr>
          <a:xfrm>
            <a:off x="9372600" y="22402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Visualise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9372600" y="2651760"/>
            <a:ext cx="18745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— 4 interactive pages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502920" y="45262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5-table star schema — dim_fund, dim_date, fact_nav, fact_transactions, fact_performance (+3 supporting fact tables)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502920" y="5029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[Optional: swap this for your own architecture diagram screenshot]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389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6858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Highlights — NAV &amp; AUM Trends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— Mutual Fund Analytics Capstone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448495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02920" y="1508760"/>
            <a:ext cx="6766560" cy="4023360"/>
          </a:xfrm>
          <a:prstGeom prst="roundRect">
            <a:avLst>
              <a:gd name="adj" fmla="val 1818"/>
            </a:avLst>
          </a:prstGeom>
          <a:solidFill>
            <a:srgbClr val="E8EEF7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329184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NAV Trend Line Chart]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498080" y="15087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Callouts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498080" y="201168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i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[NAV recovery pattern observed post-correction]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498080" y="301752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i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[Dominant fund house by AUM &amp; growth rate]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498080" y="402336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i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[Notable volatility period across schemes]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389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6858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Highlights — SIP &amp; Investor Trends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— Mutual Fund Analytics Capstone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448495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02920" y="1508760"/>
            <a:ext cx="6766560" cy="4023360"/>
          </a:xfrm>
          <a:prstGeom prst="roundRect">
            <a:avLst>
              <a:gd name="adj" fmla="val 1818"/>
            </a:avLst>
          </a:prstGeom>
          <a:solidFill>
            <a:srgbClr val="E8EEF7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329184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SIP Inflow / Demographics Chart]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498080" y="15087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Callouts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498080" y="201168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i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[SIP inflow milestone / monthly trend]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498080" y="301752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i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[Category with highest net inflows]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498080" y="402336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i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[Investor demographic skew — age/geography]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389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6858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 Performance Metrics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— Mutual Fund Analytics Capstone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448495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6583680" cy="2926080"/>
        </p:xfrm>
        <a:graphic>
          <a:graphicData uri="http://schemas.openxmlformats.org/drawingml/2006/table">
            <a:tbl>
              <a:tblPr/>
              <a:tblGrid>
                <a:gridCol w="2560320"/>
                <a:gridCol w="1371600"/>
                <a:gridCol w="1371600"/>
                <a:gridCol w="1280160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3yr CAGR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DD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[Top fund]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[Fund]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[Fund]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7498080" y="15087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Scorecard Formula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7498080" y="1965960"/>
            <a:ext cx="4206240" cy="2468880"/>
          </a:xfrm>
          <a:prstGeom prst="roundRect">
            <a:avLst>
              <a:gd name="adj" fmla="val 2963"/>
            </a:avLst>
          </a:prstGeom>
          <a:solidFill>
            <a:srgbClr val="1B2A4A"/>
          </a:solidFill>
          <a:ln/>
        </p:spPr>
      </p:sp>
      <p:sp>
        <p:nvSpPr>
          <p:cNvPr id="11" name="Text 7"/>
          <p:cNvSpPr/>
          <p:nvPr/>
        </p:nvSpPr>
        <p:spPr>
          <a:xfrm>
            <a:off x="7772400" y="219456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× 3yr Return Rank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+ 25% × Sharpe Rank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+ 20% × Alpha Rank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+ 15% × Expense Ratio Rank (inv.)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+ 10% × Max Drawdown Rank (inv.)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389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6858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Risk-Adjusted Return vs. Benchmark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— Mutual Fund Analytics Capstone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448495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02920" y="1463040"/>
          <a:ext cx="66751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7498080" y="15087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 Comparison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498080" y="201168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i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[Alpha generated vs. Nifty 100 — top funds]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7498080" y="301752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i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[Tracking error observations]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7498080" y="402336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i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[Funds outperforming vs. underperforming benchmark]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389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6858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Industry &amp; Performance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— Mutual Fund Analytics Capstone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448495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02920" y="1508760"/>
            <a:ext cx="5440680" cy="4023360"/>
          </a:xfrm>
          <a:prstGeom prst="roundRect">
            <a:avLst>
              <a:gd name="adj" fmla="val 1818"/>
            </a:avLst>
          </a:prstGeom>
          <a:solidFill>
            <a:srgbClr val="E8EEF7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329184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dashboard screenshot]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521208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1: Industry Overview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63640" y="1508760"/>
            <a:ext cx="5440680" cy="4023360"/>
          </a:xfrm>
          <a:prstGeom prst="roundRect">
            <a:avLst>
              <a:gd name="adj" fmla="val 1818"/>
            </a:avLst>
          </a:prstGeom>
          <a:solidFill>
            <a:srgbClr val="E8EEF7"/>
          </a:solidFill>
          <a:ln/>
        </p:spPr>
      </p:sp>
      <p:sp>
        <p:nvSpPr>
          <p:cNvPr id="12" name="Text 9"/>
          <p:cNvSpPr/>
          <p:nvPr/>
        </p:nvSpPr>
        <p:spPr>
          <a:xfrm>
            <a:off x="6537960" y="329184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dashboard screenshot]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46520" y="521208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2: Fund Performance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389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6858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Investor &amp; Market Trends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— Mutual Fund Analytics Capstone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448495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02920" y="1508760"/>
            <a:ext cx="5440680" cy="4023360"/>
          </a:xfrm>
          <a:prstGeom prst="roundRect">
            <a:avLst>
              <a:gd name="adj" fmla="val 1818"/>
            </a:avLst>
          </a:prstGeom>
          <a:solidFill>
            <a:srgbClr val="E8EEF7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329184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dashboard screenshot]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521208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3: Investor Analytics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63640" y="1508760"/>
            <a:ext cx="5440680" cy="4023360"/>
          </a:xfrm>
          <a:prstGeom prst="roundRect">
            <a:avLst>
              <a:gd name="adj" fmla="val 1818"/>
            </a:avLst>
          </a:prstGeom>
          <a:solidFill>
            <a:srgbClr val="E8EEF7"/>
          </a:solidFill>
          <a:ln/>
        </p:spPr>
      </p:sp>
      <p:sp>
        <p:nvSpPr>
          <p:cNvPr id="12" name="Text 9"/>
          <p:cNvSpPr/>
          <p:nvPr/>
        </p:nvSpPr>
        <p:spPr>
          <a:xfrm>
            <a:off x="6537960" y="329184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dashboard screenshot]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46520" y="521208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4: SIP &amp; Market Trends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389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6858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— Mutual Fund Analytics Capstone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448495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02920" y="155448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E8EEF7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31520" y="178308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1" y="194950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1737360"/>
            <a:ext cx="4114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[Headline AUM / SIP inflow insight]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126480" y="155448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E8EEF7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355080" y="178308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501" y="1949501"/>
            <a:ext cx="307238" cy="30723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178040" y="1737360"/>
            <a:ext cx="4114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[Top-performing fund / category insight]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02920" y="374904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E8EEF7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31520" y="397764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4144061"/>
            <a:ext cx="307238" cy="30723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54480" y="3931920"/>
            <a:ext cx="4114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[Investor behaviour / cohort insight]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126480" y="374904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E8EEF7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355080" y="397764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1501" y="4144061"/>
            <a:ext cx="307238" cy="30723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178040" y="3931920"/>
            <a:ext cx="4114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[Risk insight — VaR / concentration]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24365E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572000"/>
            <a:ext cx="4114800" cy="4114800"/>
          </a:xfrm>
          <a:prstGeom prst="ellipse">
            <a:avLst/>
          </a:prstGeom>
          <a:solidFill>
            <a:srgbClr val="24365E"/>
          </a:solidFill>
          <a:ln/>
        </p:spPr>
      </p:sp>
      <p:sp>
        <p:nvSpPr>
          <p:cNvPr id="4" name="Shape 2"/>
          <p:cNvSpPr/>
          <p:nvPr/>
        </p:nvSpPr>
        <p:spPr>
          <a:xfrm>
            <a:off x="5638648" y="1554480"/>
            <a:ext cx="914400" cy="9144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6392" y="179222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0" y="356616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0" y="49377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Tejaswini  |  Data Analyst Intern, Bluestock Fintech  |  [contact / GitHub link]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 MF Capstone Presentation</dc:title>
  <dc:subject>PptxGenJS Presentation</dc:subject>
  <dc:creator>Tejaswini</dc:creator>
  <cp:lastModifiedBy>Tejaswini</cp:lastModifiedBy>
  <cp:revision>1</cp:revision>
  <dcterms:created xsi:type="dcterms:W3CDTF">2026-07-06T08:20:42Z</dcterms:created>
  <dcterms:modified xsi:type="dcterms:W3CDTF">2026-07-06T08:20:42Z</dcterms:modified>
</cp:coreProperties>
</file>